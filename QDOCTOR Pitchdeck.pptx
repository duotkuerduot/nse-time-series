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84" r:id="rId5"/>
    <p:sldId id="296" r:id="rId6"/>
    <p:sldId id="297" r:id="rId7"/>
    <p:sldId id="298" r:id="rId8"/>
    <p:sldId id="299" r:id="rId9"/>
    <p:sldId id="300" r:id="rId10"/>
    <p:sldId id="292" r:id="rId11"/>
    <p:sldId id="301" r:id="rId12"/>
    <p:sldId id="302" r:id="rId13"/>
    <p:sldId id="290" r:id="rId14"/>
    <p:sldId id="293" r:id="rId15"/>
    <p:sldId id="294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28"/>
    <a:srgbClr val="CC3300"/>
    <a:srgbClr val="E9C46A"/>
    <a:srgbClr val="97EFD3"/>
    <a:srgbClr val="F15574"/>
    <a:srgbClr val="F4EBE8"/>
    <a:srgbClr val="ECC4BF"/>
    <a:srgbClr val="C9A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99" autoAdjust="0"/>
  </p:normalViewPr>
  <p:slideViewPr>
    <p:cSldViewPr snapToGrid="0" snapToObjects="1" showGuides="1">
      <p:cViewPr>
        <p:scale>
          <a:sx n="50" d="100"/>
          <a:sy n="50" d="100"/>
        </p:scale>
        <p:origin x="1284" y="232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7/22/2025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QDOCTOR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1330670"/>
          </a:xfrm>
        </p:spPr>
        <p:txBody>
          <a:bodyPr/>
          <a:lstStyle/>
          <a:p>
            <a:r>
              <a:rPr lang="en-US" b="1" dirty="0"/>
              <a:t>Your AI Compliance Co-pilot for Mental Healthcare.</a:t>
            </a:r>
            <a:endParaRPr lang="en-US" dirty="0"/>
          </a:p>
          <a:p>
            <a:r>
              <a:rPr lang="en-US" b="1" dirty="0"/>
              <a:t>The Right Answer, Right Now. Every Time.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A19A6DDD-C216-2AAD-4F19-4A7B5929202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996" b="4996"/>
          <a:stretch/>
        </p:blipFill>
        <p:spPr/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2D91-BB82-EC13-42C5-DEA756CB4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Mental Healthcare is in a Dual Crisis</a:t>
            </a:r>
            <a:r>
              <a:rPr lang="en-US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26505-7D2E-0277-7754-1084DCF7D7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971" y="1644179"/>
            <a:ext cx="5048882" cy="3986784"/>
          </a:xfrm>
        </p:spPr>
        <p:txBody>
          <a:bodyPr/>
          <a:lstStyle/>
          <a:p>
            <a:r>
              <a:rPr lang="en-US" sz="2800" b="1" dirty="0"/>
              <a:t>Practitioner Burnout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65635-A11D-DAA1-549E-0D0BFFA98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622752"/>
            <a:ext cx="4604512" cy="2785100"/>
          </a:xfrm>
        </p:spPr>
        <p:txBody>
          <a:bodyPr/>
          <a:lstStyle/>
          <a:p>
            <a:r>
              <a:rPr lang="en-US" sz="2000" dirty="0"/>
              <a:t>78% of mental health professionals report moderate to severe burnout.</a:t>
            </a:r>
          </a:p>
          <a:p>
            <a:endParaRPr lang="en-US" sz="2000" dirty="0"/>
          </a:p>
          <a:p>
            <a:r>
              <a:rPr lang="en-US" sz="2000" dirty="0"/>
              <a:t>The average practitioner spends 6-8 hours per week on non-clinical administrative tasks.</a:t>
            </a:r>
          </a:p>
          <a:p>
            <a:endParaRPr lang="en-US" dirty="0"/>
          </a:p>
          <a:p>
            <a:r>
              <a:rPr lang="en-US" sz="2000" b="1" dirty="0"/>
              <a:t>Result: </a:t>
            </a:r>
            <a:r>
              <a:rPr lang="en-US" sz="2000" dirty="0"/>
              <a:t>Less time for patients, higher staff turnover, and a system stretched to its breaking point.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A33550-0A33-9E4D-9A66-9639A1EF97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1242" y="1644179"/>
            <a:ext cx="5047488" cy="3986784"/>
          </a:xfrm>
        </p:spPr>
        <p:txBody>
          <a:bodyPr/>
          <a:lstStyle/>
          <a:p>
            <a:r>
              <a:rPr lang="en-US" sz="2800" b="1" dirty="0"/>
              <a:t>Compliance Risk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1AC8A-8100-6E5A-5CAD-CF94C5849CE5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443472" y="2627977"/>
            <a:ext cx="4608576" cy="2785100"/>
          </a:xfrm>
        </p:spPr>
        <p:txBody>
          <a:bodyPr/>
          <a:lstStyle/>
          <a:p>
            <a:r>
              <a:rPr lang="en-US" sz="2000" dirty="0"/>
              <a:t>A single compliance mistake can lead to license suspension, lawsuits, and patient harm.</a:t>
            </a:r>
          </a:p>
          <a:p>
            <a:endParaRPr lang="en-US" sz="2000" dirty="0"/>
          </a:p>
          <a:p>
            <a:r>
              <a:rPr lang="en-US" sz="2000" dirty="0"/>
              <a:t>Regulatory documents are dense, constantly updated, and spread across multiple sources.</a:t>
            </a:r>
          </a:p>
          <a:p>
            <a:endParaRPr lang="en-US" sz="2000" dirty="0"/>
          </a:p>
          <a:p>
            <a:r>
              <a:rPr lang="en-US" sz="2000" b="1" dirty="0"/>
              <a:t>Result: </a:t>
            </a:r>
            <a:r>
              <a:rPr lang="en-US" sz="2000" dirty="0"/>
              <a:t>Fear, decision-paralysis, and a constant, low-level anxiety that undermines clinical confidence.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B831-58CA-9BDC-E389-7361D3674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89682-0471-3590-3A06-D75DF384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3961" y="6183086"/>
            <a:ext cx="9507582" cy="464706"/>
          </a:xfrm>
        </p:spPr>
        <p:txBody>
          <a:bodyPr/>
          <a:lstStyle/>
          <a:p>
            <a:endParaRPr lang="en-US" sz="1100" b="1" noProof="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526EEDF-CD2B-D3D9-331E-5F614A8C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72053E-87F8-038E-214C-B1283A996E3C}"/>
              </a:ext>
            </a:extLst>
          </p:cNvPr>
          <p:cNvSpPr/>
          <p:nvPr/>
        </p:nvSpPr>
        <p:spPr>
          <a:xfrm>
            <a:off x="838200" y="5748094"/>
            <a:ext cx="10567416" cy="968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Our healers are burning out, crushed by a system that demands the impossible. </a:t>
            </a:r>
            <a:r>
              <a:rPr lang="en-US" sz="2400" b="1" dirty="0">
                <a:solidFill>
                  <a:schemeClr val="tx1"/>
                </a:solidFill>
              </a:rPr>
              <a:t>We are losing our best practitioners to administrative burdens, not clinical challenges.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25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79F8A-D13A-3AF7-2285-837E59CF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0713" y="30480"/>
            <a:ext cx="9056915" cy="630936"/>
          </a:xfrm>
        </p:spPr>
        <p:txBody>
          <a:bodyPr/>
          <a:lstStyle/>
          <a:p>
            <a:pPr algn="ctr"/>
            <a:r>
              <a:rPr lang="en-US" sz="4000" dirty="0"/>
              <a:t>Human Cost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05D4E-A821-A95D-F483-ADA1416CD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0593" y="925286"/>
            <a:ext cx="5997777" cy="4833257"/>
          </a:xfrm>
        </p:spPr>
        <p:txBody>
          <a:bodyPr/>
          <a:lstStyle/>
          <a:p>
            <a:r>
              <a:rPr lang="en-US" b="1" dirty="0"/>
              <a:t>Meet Dr. Adan: A Dedicated Clinical Psychologist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1800" dirty="0"/>
              <a:t>Based in Nairobi, serving 150+ active patients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1800" dirty="0"/>
              <a:t>Manages a small team, driven by a passion for quality care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1800" dirty="0"/>
              <a:t>Faces a hidden workload that steals time from patient care</a:t>
            </a:r>
          </a:p>
          <a:p>
            <a:r>
              <a:rPr lang="en-US" b="1" dirty="0"/>
              <a:t>The Challenges Dr. Adan Faces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Complex Compliance</a:t>
            </a:r>
            <a:r>
              <a:rPr lang="en-US" sz="1600" dirty="0"/>
              <a:t>: Navigating mandatory reporting for a suicidal teenage client under the latest Kenyan Mental Health Act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Data Privacy Concerns</a:t>
            </a:r>
            <a:r>
              <a:rPr lang="en-US" sz="1600" dirty="0"/>
              <a:t>: Ensuring a new teletherapy platform meets patient confidentiality standards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Insurance Coding Errors: </a:t>
            </a:r>
            <a:r>
              <a:rPr lang="en-US" sz="1600" dirty="0"/>
              <a:t>Correctly coding assessments to avoid rejected claims</a:t>
            </a:r>
          </a:p>
          <a:p>
            <a:r>
              <a:rPr lang="en-US" b="1" dirty="0"/>
              <a:t>The Problem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1600" dirty="0"/>
              <a:t>Hours spent searching dense PDFs, outdated websites, and consulting costly lawyers</a:t>
            </a:r>
          </a:p>
          <a:p>
            <a:pPr marL="397764" indent="-342900">
              <a:buFont typeface="Arial" panose="020B0604020202020204" pitchFamily="34" charset="0"/>
              <a:buChar char="•"/>
            </a:pPr>
            <a:r>
              <a:rPr lang="en-US" sz="1600" dirty="0"/>
              <a:t>Time lost that could be dedicated to </a:t>
            </a:r>
            <a:r>
              <a:rPr lang="en-US" sz="1600" b="1" dirty="0">
                <a:solidFill>
                  <a:srgbClr val="FF0000"/>
                </a:solidFill>
              </a:rPr>
              <a:t>improving patient outcomes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815F3E3-291C-20B9-9304-B52FA6C0D6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609" r="13609"/>
          <a:stretch/>
        </p:blipFill>
        <p:spPr>
          <a:xfrm>
            <a:off x="7246938" y="812800"/>
            <a:ext cx="3833812" cy="4945063"/>
          </a:xfrm>
        </p:spPr>
      </p:pic>
    </p:spTree>
    <p:extLst>
      <p:ext uri="{BB962C8B-B14F-4D97-AF65-F5344CB8AC3E}">
        <p14:creationId xmlns:p14="http://schemas.microsoft.com/office/powerpoint/2010/main" val="333897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DB95364-C68E-6743-A0A1-13DB9DF662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081" t="931" r="14132"/>
          <a:stretch>
            <a:fillRect/>
          </a:stretch>
        </p:blipFill>
        <p:spPr>
          <a:xfrm>
            <a:off x="6232071" y="1555496"/>
            <a:ext cx="7042543" cy="374700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8C77C3-A0CC-5C40-CED7-27DC6A3C2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257" y="62266"/>
            <a:ext cx="9633857" cy="750026"/>
          </a:xfrm>
        </p:spPr>
        <p:txBody>
          <a:bodyPr/>
          <a:lstStyle/>
          <a:p>
            <a:pPr algn="ctr"/>
            <a:r>
              <a:rPr lang="en-US" sz="5400" dirty="0"/>
              <a:t>The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7FBC-E082-C642-D2A6-36F8625E3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7057" y="903514"/>
            <a:ext cx="5399314" cy="4976586"/>
          </a:xfrm>
        </p:spPr>
        <p:txBody>
          <a:bodyPr/>
          <a:lstStyle/>
          <a:p>
            <a:r>
              <a:rPr lang="en-US" sz="2400" b="1" dirty="0"/>
              <a:t>The AI Compliance Co-pilot for Mental Health Professionals.</a:t>
            </a:r>
            <a:endParaRPr lang="en-US" sz="2000" b="1" dirty="0"/>
          </a:p>
          <a:p>
            <a:r>
              <a:rPr lang="en-US" sz="2000" dirty="0"/>
              <a:t>QDOCTOR is a specialized, conversational AI agent that provides </a:t>
            </a:r>
            <a:r>
              <a:rPr lang="en-US" sz="2000" b="1" dirty="0"/>
              <a:t>instant, verifiable answers </a:t>
            </a:r>
            <a:r>
              <a:rPr lang="en-US" sz="2000" dirty="0"/>
              <a:t>to complex questions about ethical codes, government procedures, and clinical guidelines.</a:t>
            </a:r>
          </a:p>
          <a:p>
            <a:endParaRPr lang="en-US" sz="2000" dirty="0"/>
          </a:p>
          <a:p>
            <a:r>
              <a:rPr lang="en-US" sz="2000" dirty="0"/>
              <a:t>No more searching. No more guessing.</a:t>
            </a:r>
          </a:p>
          <a:p>
            <a:endParaRPr lang="en-US" sz="2000" dirty="0"/>
          </a:p>
          <a:p>
            <a:r>
              <a:rPr lang="en-US" sz="1800" b="1" dirty="0"/>
              <a:t>Just ask a question in plain language and get a direct answer, cited back to the source document.</a:t>
            </a:r>
          </a:p>
          <a:p>
            <a:r>
              <a:rPr lang="en-US" sz="1800" b="1" dirty="0"/>
              <a:t>We transform regulatory complexity into clinical confidence.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152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8D074-F9FC-C7CE-AA88-2DAF31AE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From Question to Confident Action in Seconds.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15681-363C-2731-7E8F-80C65EB9D0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800" b="1" dirty="0"/>
              <a:t>1. ASK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4F325-2C66-FCFF-7033-A179292D7C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800" dirty="0"/>
              <a:t>Dr. Adan asks QDOCTOR a natural language question, just like talking to an expert colleague.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9F8E-5BAC-0E30-53DC-2EF3C964D0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800" b="1" dirty="0"/>
              <a:t>2. VERIFY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86FAC-32E3-76FF-B0B7-1848114860C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sz="2400" dirty="0"/>
              <a:t>Our specialized AI instantly queries its curated knowledge base of official regulations, ethical codes, and procedural manuals.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033B9B-F819-A993-26FB-D19EBCE7BA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sz="2800" b="1" dirty="0"/>
              <a:t>3. ACT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A0F41F-A2D0-72B1-C553-405F236995E5}"/>
              </a:ext>
            </a:extLst>
          </p:cNvPr>
          <p:cNvSpPr>
            <a:spLocks noGrp="1"/>
          </p:cNvSpPr>
          <p:nvPr>
            <p:ph sz="half" idx="20"/>
          </p:nvPr>
        </p:nvSpPr>
        <p:spPr/>
        <p:txBody>
          <a:bodyPr/>
          <a:lstStyle/>
          <a:p>
            <a:r>
              <a:rPr lang="en-US" sz="2400" dirty="0"/>
              <a:t>QDOCTOR delivers a precise, actionable answer with a direct link to the source for ultimate verification and peace of mind.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0E4DD7-7CDE-B8B5-2DCB-6C9296FF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3400516-A515-03F5-2CCF-601EB79D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73B5CAB-DD56-BE61-A897-6BD20698A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10847D6-348E-56E5-674D-9AB1B47EB148}"/>
              </a:ext>
            </a:extLst>
          </p:cNvPr>
          <p:cNvSpPr/>
          <p:nvPr/>
        </p:nvSpPr>
        <p:spPr>
          <a:xfrm>
            <a:off x="908014" y="5588988"/>
            <a:ext cx="10985500" cy="16238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82828"/>
                </a:solidFill>
              </a:rPr>
              <a:t>Our "secret sauce" is the curated, country-specific data layer. Unlike generalist AIs, </a:t>
            </a:r>
          </a:p>
          <a:p>
            <a:pPr algn="ctr"/>
            <a:r>
              <a:rPr lang="en-US" b="1" dirty="0">
                <a:solidFill>
                  <a:srgbClr val="282828"/>
                </a:solidFill>
              </a:rPr>
              <a:t>our answers are </a:t>
            </a:r>
            <a:r>
              <a:rPr lang="en-US" b="1" dirty="0">
                <a:solidFill>
                  <a:srgbClr val="FF0000"/>
                </a:solidFill>
              </a:rPr>
              <a:t>not just probable—they are provable.</a:t>
            </a:r>
          </a:p>
        </p:txBody>
      </p:sp>
    </p:spTree>
    <p:extLst>
      <p:ext uri="{BB962C8B-B14F-4D97-AF65-F5344CB8AC3E}">
        <p14:creationId xmlns:p14="http://schemas.microsoft.com/office/powerpoint/2010/main" val="300245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8CA67-CFCE-9CD9-4F6D-C5F1DD784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Why Now? The Perfect Storm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C7483-727C-7C84-2C94-01F3DAAA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6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71437-E4E9-7C5A-003E-17A803D4F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7B8A0-0FAB-16E6-76B6-AF3D4274B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FC86272-C322-0E31-6BE2-9C9B4F8DCD1C}"/>
              </a:ext>
            </a:extLst>
          </p:cNvPr>
          <p:cNvSpPr txBox="1">
            <a:spLocks/>
          </p:cNvSpPr>
          <p:nvPr/>
        </p:nvSpPr>
        <p:spPr>
          <a:xfrm>
            <a:off x="342900" y="1527048"/>
            <a:ext cx="11252200" cy="48738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The Market is at a Critical Inflection Point.</a:t>
            </a:r>
          </a:p>
          <a:p>
            <a:endParaRPr lang="en-US" sz="2000" dirty="0"/>
          </a:p>
          <a:p>
            <a:pPr algn="l"/>
            <a:r>
              <a:rPr lang="en-US" sz="2000" b="1" dirty="0"/>
              <a:t>Three powerful forces </a:t>
            </a:r>
            <a:r>
              <a:rPr lang="en-US" sz="2000" dirty="0"/>
              <a:t>are converging to create an </a:t>
            </a:r>
            <a:r>
              <a:rPr lang="en-US" sz="2000" b="1" dirty="0"/>
              <a:t>unprecedented opportunity.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>
                <a:solidFill>
                  <a:srgbClr val="FF0000"/>
                </a:solidFill>
              </a:rPr>
              <a:t>Mental Health Crisis: </a:t>
            </a:r>
            <a:r>
              <a:rPr lang="en-US" sz="2000" dirty="0"/>
              <a:t>Post-pandemic demand has skyrocketed, creating immense pressure on a limited workforce. Efficiency is no longer a luxury; it's a necessity for survival.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>
                <a:solidFill>
                  <a:srgbClr val="FF0000"/>
                </a:solidFill>
              </a:rPr>
              <a:t>The AI Revolution: </a:t>
            </a:r>
            <a:r>
              <a:rPr lang="en-US" sz="2000" dirty="0"/>
              <a:t>Clinicians are now actively seeking technology that works for them. The adoption curve for credible, specialized AI tools is accelerating dramatically.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>
                <a:solidFill>
                  <a:srgbClr val="FF0000"/>
                </a:solidFill>
              </a:rPr>
              <a:t>Regulatory Burden: </a:t>
            </a:r>
            <a:r>
              <a:rPr lang="en-US" sz="2000" dirty="0"/>
              <a:t>As mental healthcare becomes more formalized, the complexity of compliance is increasing exponentially. The cost of getting it wrong has never been higher</a:t>
            </a:r>
          </a:p>
          <a:p>
            <a:endParaRPr lang="en-US" sz="2000" dirty="0"/>
          </a:p>
          <a:p>
            <a:r>
              <a:rPr lang="en-US" sz="2000" b="1" dirty="0"/>
              <a:t>QDOCTOR is built for this exact moment.</a:t>
            </a:r>
          </a:p>
        </p:txBody>
      </p:sp>
    </p:spTree>
    <p:extLst>
      <p:ext uri="{BB962C8B-B14F-4D97-AF65-F5344CB8AC3E}">
        <p14:creationId xmlns:p14="http://schemas.microsoft.com/office/powerpoint/2010/main" val="3986928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DB732-6FD3-D0DA-92AF-1D7A68E3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 Massive, Underserved, and Growing Market</a:t>
            </a:r>
            <a:r>
              <a:rPr lang="en-US" sz="4400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6D0EB4-87A1-9926-18A9-F1A65DC20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Kenya - Initial Target Market (TAM)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7B26A88-F289-88EA-E384-570C7CF8B5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~500 licensed mental health professionals.</a:t>
            </a:r>
          </a:p>
          <a:p>
            <a:r>
              <a:rPr lang="en-US" sz="2000" dirty="0"/>
              <a:t>Annual Market Value (Subscription Model): $1.8M USD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309F894-D6ED-3B69-812A-EDD9C07D6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dirty="0"/>
              <a:t>Sub - Saharan Africa - Phase 2 (SAM)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A6AD7D6-3293-B4C1-4263-E02BE31B4FF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sz="1800" dirty="0"/>
              <a:t>~20,000 professionals across key markets (Nigeria, South Africa, Ghana).</a:t>
            </a:r>
          </a:p>
          <a:p>
            <a:r>
              <a:rPr lang="en-US" sz="1800" dirty="0"/>
              <a:t>Annual Market Value: $21.6M USD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9B0CB1-7293-69E3-F8F5-E80F25E07D2D}"/>
              </a:ext>
            </a:extLst>
          </p:cNvPr>
          <p:cNvSpPr/>
          <p:nvPr/>
        </p:nvSpPr>
        <p:spPr>
          <a:xfrm>
            <a:off x="1915886" y="5598735"/>
            <a:ext cx="8713259" cy="8891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Our initial go-to-market focuses on a high-value niche, creating a defensible position from which to expand.</a:t>
            </a:r>
          </a:p>
        </p:txBody>
      </p:sp>
    </p:spTree>
    <p:extLst>
      <p:ext uri="{BB962C8B-B14F-4D97-AF65-F5344CB8AC3E}">
        <p14:creationId xmlns:p14="http://schemas.microsoft.com/office/powerpoint/2010/main" val="1646725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8C5E-F3D5-A487-49E9-E1E64B2C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129" y="800100"/>
            <a:ext cx="9912096" cy="630936"/>
          </a:xfrm>
        </p:spPr>
        <p:txBody>
          <a:bodyPr/>
          <a:lstStyle/>
          <a:p>
            <a:r>
              <a:rPr lang="en-US" sz="3200" dirty="0"/>
              <a:t>Phased Rollout for Rapid, Sustainable Growth.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122375-F77C-917F-5472-CCABD4D34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8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B18926-FBC2-E729-2F14-CB4BB2E56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34706-2B10-DE87-3D44-EEC11AEE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FC080B-A93E-7E4A-0E27-1C1B279938E7}"/>
              </a:ext>
            </a:extLst>
          </p:cNvPr>
          <p:cNvSpPr txBox="1">
            <a:spLocks/>
          </p:cNvSpPr>
          <p:nvPr/>
        </p:nvSpPr>
        <p:spPr>
          <a:xfrm>
            <a:off x="1356360" y="169164"/>
            <a:ext cx="9912096" cy="6309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Go-To-Market Strategy</a:t>
            </a:r>
            <a:endParaRPr lang="en-US" sz="4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95A9D8-B50B-7D2E-2F42-098BD916C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354189"/>
              </p:ext>
            </p:extLst>
          </p:nvPr>
        </p:nvGraphicFramePr>
        <p:xfrm>
          <a:off x="838200" y="2043684"/>
          <a:ext cx="11093196" cy="391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732">
                  <a:extLst>
                    <a:ext uri="{9D8B030D-6E8A-4147-A177-3AD203B41FA5}">
                      <a16:colId xmlns:a16="http://schemas.microsoft.com/office/drawing/2014/main" val="3723162331"/>
                    </a:ext>
                  </a:extLst>
                </a:gridCol>
                <a:gridCol w="3697732">
                  <a:extLst>
                    <a:ext uri="{9D8B030D-6E8A-4147-A177-3AD203B41FA5}">
                      <a16:colId xmlns:a16="http://schemas.microsoft.com/office/drawing/2014/main" val="2118850451"/>
                    </a:ext>
                  </a:extLst>
                </a:gridCol>
                <a:gridCol w="3697732">
                  <a:extLst>
                    <a:ext uri="{9D8B030D-6E8A-4147-A177-3AD203B41FA5}">
                      <a16:colId xmlns:a16="http://schemas.microsoft.com/office/drawing/2014/main" val="3874222820"/>
                    </a:ext>
                  </a:extLst>
                </a:gridCol>
              </a:tblGrid>
              <a:tr h="71678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Phase 1: Beachhead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(Months 0-6)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Phase 2: Partnerships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(Months 6-18)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Phase 3: Scale 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(Months 18+)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70512"/>
                  </a:ext>
                </a:extLst>
              </a:tr>
              <a:tr h="1171956">
                <a:tc>
                  <a:txBody>
                    <a:bodyPr/>
                    <a:lstStyle/>
                    <a:p>
                      <a:r>
                        <a:rPr lang="en-US" sz="2400" b="1" dirty="0"/>
                        <a:t>Goal: </a:t>
                      </a:r>
                      <a:r>
                        <a:rPr lang="en-US" sz="2400" dirty="0"/>
                        <a:t>User validation &amp; building champions.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Goal: </a:t>
                      </a:r>
                      <a:r>
                        <a:rPr lang="en-US" sz="2400" dirty="0"/>
                        <a:t>Become the industry standard.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Goal: </a:t>
                      </a:r>
                      <a:r>
                        <a:rPr lang="en-US" sz="2400" dirty="0"/>
                        <a:t>Market leadership &amp; data monetization.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78371"/>
                  </a:ext>
                </a:extLst>
              </a:tr>
              <a:tr h="1547029">
                <a:tc>
                  <a:txBody>
                    <a:bodyPr/>
                    <a:lstStyle/>
                    <a:p>
                      <a:r>
                        <a:rPr lang="en-US" sz="2000" b="1" dirty="0"/>
                        <a:t>Tactics: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Targeted digital ads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Pilot programs with small clinics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Content marketing on compliance pain points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Tactics: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Forge partnerships with professional associations &amp; universities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B2B sales to hospital groups &amp; EAPs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Tactics: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Expand to Sub Saharan countries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Launch enterprise data analytics dashboard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International channel partners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182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864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BC5E3-E146-5169-E7CF-F6AD4875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95908"/>
            <a:ext cx="11963400" cy="818492"/>
          </a:xfrm>
        </p:spPr>
        <p:txBody>
          <a:bodyPr/>
          <a:lstStyle/>
          <a:p>
            <a:pPr algn="l"/>
            <a:r>
              <a:rPr lang="en-US" sz="3200" dirty="0"/>
              <a:t>Competitive Landscape: A Unique, Defensible Position.</a:t>
            </a:r>
            <a:endParaRPr lang="en-US" sz="5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03A569-C933-F00C-DB15-DF281E7EBD73}"/>
              </a:ext>
            </a:extLst>
          </p:cNvPr>
          <p:cNvSpPr txBox="1">
            <a:spLocks/>
          </p:cNvSpPr>
          <p:nvPr/>
        </p:nvSpPr>
        <p:spPr>
          <a:xfrm>
            <a:off x="228600" y="6152492"/>
            <a:ext cx="11963400" cy="495300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Our focus on verified, compliance-grade answers for a specific professional vertical is our moat.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B56071-5119-A493-52E4-26BDC83E1B1B}"/>
              </a:ext>
            </a:extLst>
          </p:cNvPr>
          <p:cNvSpPr txBox="1">
            <a:spLocks/>
          </p:cNvSpPr>
          <p:nvPr/>
        </p:nvSpPr>
        <p:spPr>
          <a:xfrm>
            <a:off x="228600" y="825500"/>
            <a:ext cx="11963400" cy="673100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We are not another general AI tool. We are a specialized, vertical solution built on trust and verification.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F28F9F-B925-805C-2EE4-671807246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807966"/>
              </p:ext>
            </p:extLst>
          </p:nvPr>
        </p:nvGraphicFramePr>
        <p:xfrm>
          <a:off x="762000" y="1665158"/>
          <a:ext cx="10426700" cy="4260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3350">
                  <a:extLst>
                    <a:ext uri="{9D8B030D-6E8A-4147-A177-3AD203B41FA5}">
                      <a16:colId xmlns:a16="http://schemas.microsoft.com/office/drawing/2014/main" val="1110868805"/>
                    </a:ext>
                  </a:extLst>
                </a:gridCol>
                <a:gridCol w="5213350">
                  <a:extLst>
                    <a:ext uri="{9D8B030D-6E8A-4147-A177-3AD203B41FA5}">
                      <a16:colId xmlns:a16="http://schemas.microsoft.com/office/drawing/2014/main" val="3422801603"/>
                    </a:ext>
                  </a:extLst>
                </a:gridCol>
              </a:tblGrid>
              <a:tr h="21265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Generalist AI</a:t>
                      </a: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2400" b="0" dirty="0">
                          <a:solidFill>
                            <a:srgbClr val="FF0000"/>
                          </a:solidFill>
                        </a:rPr>
                        <a:t>Niche therapy tools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(e.g., therapy note generators). They assist workflow but don't solve the core compliance risk.</a:t>
                      </a: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Specialized for Mental Health</a:t>
                      </a:r>
                    </a:p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</a:rPr>
                        <a:t>(QDOCTOR):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High Specialization, High Compliance Focus. Our Zone.</a:t>
                      </a: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40776831"/>
                  </a:ext>
                </a:extLst>
              </a:tr>
              <a:tr h="212652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General Knowledge</a:t>
                      </a:r>
                    </a:p>
                    <a:p>
                      <a:pPr algn="ctr"/>
                      <a:endParaRPr lang="en-US" b="1" dirty="0"/>
                    </a:p>
                    <a:p>
                      <a:pPr algn="l"/>
                      <a:r>
                        <a:rPr lang="en-US" sz="2400" b="0" dirty="0">
                          <a:solidFill>
                            <a:srgbClr val="FF0000"/>
                          </a:solidFill>
                        </a:rPr>
                        <a:t>Generalist AI (ChatGPT, Google). </a:t>
                      </a:r>
                      <a:r>
                        <a:rPr lang="en-US" sz="2400" b="0" dirty="0"/>
                        <a:t>Unreliable, no source verification, high risk of "hallucinated" answers. Not a viable tool for high-stakes professional decisions.</a:t>
                      </a: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Compliance &amp; Verification Focused</a:t>
                      </a:r>
                    </a:p>
                    <a:p>
                      <a:pPr algn="ctr"/>
                      <a:endParaRPr lang="en-US" b="1" dirty="0"/>
                    </a:p>
                    <a:p>
                      <a:pPr algn="l"/>
                      <a:r>
                        <a:rPr lang="en-US" sz="2400" b="0" dirty="0">
                          <a:solidFill>
                            <a:srgbClr val="FF0000"/>
                          </a:solidFill>
                        </a:rPr>
                        <a:t>Legal Tech / RegTech for general business. </a:t>
                      </a:r>
                      <a:r>
                        <a:rPr lang="en-US" sz="2400" b="0" dirty="0"/>
                        <a:t>Not tailored for clinical nuance or healthcare regulations.</a:t>
                      </a:r>
                    </a:p>
                    <a:p>
                      <a:pPr algn="ctr"/>
                      <a:endParaRPr lang="en-US" b="1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020329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07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27FB49D-70BC-8BD7-DD62-C2868B0C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our team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A5AB26-ED69-C202-1AFB-A4A19E16DC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4700" y="2476500"/>
            <a:ext cx="2500196" cy="2897032"/>
          </a:xfrm>
        </p:spPr>
        <p:txBody>
          <a:bodyPr/>
          <a:lstStyle/>
          <a:p>
            <a:r>
              <a:rPr lang="en-US" sz="1400" b="1" dirty="0"/>
              <a:t>Jemima, Founder &amp; CEO:</a:t>
            </a:r>
          </a:p>
          <a:p>
            <a:endParaRPr lang="en-US" sz="1400" b="1" dirty="0"/>
          </a:p>
          <a:p>
            <a:pPr algn="l"/>
            <a:r>
              <a:rPr lang="en-US" sz="1400" b="1" dirty="0"/>
              <a:t> </a:t>
            </a:r>
            <a:r>
              <a:rPr lang="en-US" dirty="0"/>
              <a:t>A visionary leader with deep ties to the healthcare community and a personal understanding of the challenges mental health professionals face. Proven experience in product development and strategic planning.</a:t>
            </a:r>
            <a:endParaRPr lang="en-US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E43B57-52A2-C8A5-CFEA-59973049F94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22376" y="2476500"/>
            <a:ext cx="2514600" cy="2955042"/>
          </a:xfrm>
        </p:spPr>
        <p:txBody>
          <a:bodyPr/>
          <a:lstStyle/>
          <a:p>
            <a:r>
              <a:rPr lang="en-US" b="1" dirty="0"/>
              <a:t>Dr. [Name], Clinical Advisor:</a:t>
            </a:r>
          </a:p>
          <a:p>
            <a:endParaRPr lang="en-US" b="1" dirty="0"/>
          </a:p>
          <a:p>
            <a:pPr algn="l"/>
            <a:r>
              <a:rPr lang="en-US" dirty="0"/>
              <a:t> A respected, practicing clinical psychologist with over 15 years of experience. Provides invaluable domain expertise and ensures our product meets the real-world needs of practitioners.</a:t>
            </a:r>
          </a:p>
          <a:p>
            <a:endParaRPr lang="en-US" sz="1800" b="1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F4A809-29D8-165B-1C85-5FB69DA2EC4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76416" y="2438400"/>
            <a:ext cx="2504344" cy="2746474"/>
          </a:xfrm>
        </p:spPr>
        <p:txBody>
          <a:bodyPr/>
          <a:lstStyle/>
          <a:p>
            <a:r>
              <a:rPr lang="en-US" sz="2000" b="1" dirty="0"/>
              <a:t>Eric Katumo, AI Engineer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F53377A-8252-E7D8-7D40-4C89B9255A3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20200" y="2438400"/>
            <a:ext cx="2401824" cy="1257300"/>
          </a:xfrm>
        </p:spPr>
        <p:txBody>
          <a:bodyPr/>
          <a:lstStyle/>
          <a:p>
            <a:r>
              <a:rPr lang="en-US" sz="2000" b="1" dirty="0"/>
              <a:t>Duot Kuer, AI Engineer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AA30FCA2-80C6-CF3C-F17C-360C7DCD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C52926D2-18D2-AED1-3AE7-6A591CC1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7" name="Date Placeholder 36">
            <a:extLst>
              <a:ext uri="{FF2B5EF4-FFF2-40B4-BE49-F238E27FC236}">
                <a16:creationId xmlns:a16="http://schemas.microsoft.com/office/drawing/2014/main" id="{FC12385A-2C7F-F62F-660D-F6C459FC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251802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CAC6-3968-4D63-A855-09547BB0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Why This Accelerator? Why Now?</a:t>
            </a:r>
            <a:r>
              <a:rPr lang="en-US" dirty="0"/>
              <a:t>​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9AC71-9ED4-FA59-D386-5BD9C585DC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2394856"/>
            <a:ext cx="3246120" cy="3548743"/>
          </a:xfrm>
        </p:spPr>
        <p:txBody>
          <a:bodyPr/>
          <a:lstStyle/>
          <a:p>
            <a:r>
              <a:rPr lang="en-US" dirty="0"/>
              <a:t>Expert Mentorship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3F0E5B-65CB-787C-C52A-2038EEA09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3429000"/>
            <a:ext cx="2743200" cy="2300468"/>
          </a:xfrm>
        </p:spPr>
        <p:txBody>
          <a:bodyPr/>
          <a:lstStyle/>
          <a:p>
            <a:r>
              <a:rPr lang="en-US" dirty="0"/>
              <a:t>To refine our B2B sales strategy for long healthcare sales cycles and navigate the regulatory pathway.​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CADAC-D2BA-2781-21DF-E36A2D898F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2394856"/>
            <a:ext cx="3246120" cy="3548744"/>
          </a:xfrm>
        </p:spPr>
        <p:txBody>
          <a:bodyPr/>
          <a:lstStyle/>
          <a:p>
            <a:r>
              <a:rPr lang="en-US" dirty="0"/>
              <a:t>Network Access: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50929C-496C-419D-93BC-D4ABBE462EF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3429000"/>
            <a:ext cx="2743200" cy="2300468"/>
          </a:xfrm>
        </p:spPr>
        <p:txBody>
          <a:bodyPr/>
          <a:lstStyle/>
          <a:p>
            <a:r>
              <a:rPr lang="en-US" dirty="0"/>
              <a:t>Introductions to our first large-scale clinical partners (hospital groups, insurance panels) to accelerate our pilot programs.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88B1D-28C5-C399-CA01-21BE7C5F1E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2394856"/>
            <a:ext cx="3246120" cy="3548744"/>
          </a:xfrm>
        </p:spPr>
        <p:txBody>
          <a:bodyPr/>
          <a:lstStyle/>
          <a:p>
            <a:r>
              <a:rPr lang="en-US" sz="1800" dirty="0"/>
              <a:t>A Strategic Framework: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C5E498-99B3-E3F4-A9B8-F11B4B9B0F27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3429000"/>
            <a:ext cx="2743200" cy="2300468"/>
          </a:xfrm>
        </p:spPr>
        <p:txBody>
          <a:bodyPr/>
          <a:lstStyle/>
          <a:p>
            <a:r>
              <a:rPr lang="en-US" dirty="0"/>
              <a:t>To scale our operations efficiently and position us for a successful Seed round within 12 months.</a:t>
            </a:r>
          </a:p>
          <a:p>
            <a:endParaRPr lang="en-US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25633612-F774-0CAE-9E5C-D01184B4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C2B4FE06-34C7-A80C-5DBE-4F5168C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1570591"/>
            <a:ext cx="10972800" cy="497363"/>
          </a:xfrm>
        </p:spPr>
        <p:txBody>
          <a:bodyPr/>
          <a:lstStyle/>
          <a:p>
            <a:r>
              <a:rPr lang="en-US" sz="1800" b="1" dirty="0"/>
              <a:t>This accelerator is the catalyst we need to transform a vital solution into an indispensable industry standard.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E227DBC0-C280-AC5C-C7A8-FF8D56C9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6D77BE-4A5A-D8D5-985C-6B254FAFC4DB}"/>
              </a:ext>
            </a:extLst>
          </p:cNvPr>
          <p:cNvSpPr/>
          <p:nvPr/>
        </p:nvSpPr>
        <p:spPr>
          <a:xfrm>
            <a:off x="685800" y="6074066"/>
            <a:ext cx="10972800" cy="6536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We have built a validated MVP and confirmed an urgent market need. We are at a critical inflection point where strategic guidance is paramount to navigate the complex health-tech landscape.</a:t>
            </a:r>
          </a:p>
        </p:txBody>
      </p:sp>
    </p:spTree>
    <p:extLst>
      <p:ext uri="{BB962C8B-B14F-4D97-AF65-F5344CB8AC3E}">
        <p14:creationId xmlns:p14="http://schemas.microsoft.com/office/powerpoint/2010/main" val="3095245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AD6B-0EBB-7092-13C6-240F8A4A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br>
              <a:rPr lang="en-US" dirty="0"/>
            </a:br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EDD0654D-0EEE-9D11-4D37-133C0B9A496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038" r="5038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A7609-6E6A-B996-BC29-F9AA857D7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The future of mental healthcare is not more work. It's smarter work.</a:t>
            </a:r>
          </a:p>
          <a:p>
            <a:endParaRPr lang="en-US" altLang="zh-CN" sz="1800" dirty="0"/>
          </a:p>
          <a:p>
            <a:r>
              <a:rPr lang="en-US" altLang="zh-CN" sz="1800" b="1" dirty="0"/>
              <a:t>QDOCTOR</a:t>
            </a:r>
            <a:r>
              <a:rPr lang="en-US" altLang="zh-CN" sz="1800" dirty="0"/>
              <a:t> empowers our healers to focus on what matters most: </a:t>
            </a:r>
            <a:r>
              <a:rPr lang="en-US" altLang="zh-CN" sz="1800" b="1" dirty="0"/>
              <a:t>their patients.</a:t>
            </a:r>
          </a:p>
          <a:p>
            <a:endParaRPr lang="en-US" altLang="zh-CN" sz="1800" dirty="0"/>
          </a:p>
          <a:p>
            <a:r>
              <a:rPr lang="en-US" altLang="zh-CN" sz="2400" b="1" dirty="0"/>
              <a:t>Let's build that future together.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A450CD4-3018-DBCF-3A32-B72A7DCF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722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4C5B759-93CB-5B5A-B1D2-2E3C42747C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518B68B6-5284-F036-E87F-9BC3A435A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2529840"/>
          </a:xfrm>
        </p:spPr>
        <p:txBody>
          <a:bodyPr/>
          <a:lstStyle/>
          <a:p>
            <a:pPr algn="ctr"/>
            <a:r>
              <a:rPr lang="en-US" sz="2800" b="1" dirty="0"/>
              <a:t>QDOCTOR</a:t>
            </a:r>
          </a:p>
          <a:p>
            <a:r>
              <a:rPr lang="en-US" sz="2400" b="1" dirty="0"/>
              <a:t>Name</a:t>
            </a:r>
            <a:r>
              <a:rPr lang="en-US" sz="2000" dirty="0"/>
              <a:t>: Eric Katumo</a:t>
            </a:r>
          </a:p>
          <a:p>
            <a:r>
              <a:rPr lang="en-US" sz="2400" b="1" dirty="0"/>
              <a:t>Email: </a:t>
            </a:r>
            <a:r>
              <a:rPr lang="en-US" sz="2000" u="sng" dirty="0">
                <a:solidFill>
                  <a:srgbClr val="FF0000"/>
                </a:solidFill>
              </a:rPr>
              <a:t>katumoeric6@gmail.com </a:t>
            </a:r>
          </a:p>
          <a:p>
            <a:r>
              <a:rPr lang="en-US" sz="2400" b="1" dirty="0"/>
              <a:t>Name: </a:t>
            </a:r>
            <a:r>
              <a:rPr lang="en-US" sz="2000" dirty="0"/>
              <a:t>Duot Kuer</a:t>
            </a:r>
          </a:p>
          <a:p>
            <a:r>
              <a:rPr lang="en-US" sz="2400" b="1" dirty="0"/>
              <a:t>Email</a:t>
            </a:r>
            <a:r>
              <a:rPr lang="en-US" sz="2000" dirty="0"/>
              <a:t>: </a:t>
            </a:r>
            <a:r>
              <a:rPr lang="en-US" sz="2000" u="sng" dirty="0">
                <a:solidFill>
                  <a:srgbClr val="FF0000"/>
                </a:solidFill>
              </a:rPr>
              <a:t>duotkuerduot@gmail.com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AA23B9-40CB-0AB5-5D77-9F4B4929A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838200"/>
            <a:ext cx="4038600" cy="493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3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{E94A63EC-4452-4844-AE7C-6C098A151C01}TFe1d98463-2fb3-4a8a-b8ce-60608704d48e96bc5776_win32-f4b1007d240e</Template>
  <TotalTime>870</TotalTime>
  <Words>1190</Words>
  <Application>Microsoft Office PowerPoint</Application>
  <PresentationFormat>Widescreen</PresentationFormat>
  <Paragraphs>153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Karla</vt:lpstr>
      <vt:lpstr>Univers Condensed Light</vt:lpstr>
      <vt:lpstr>Office Theme</vt:lpstr>
      <vt:lpstr>QDOCTOR</vt:lpstr>
      <vt:lpstr>Mental Healthcare is in a Dual Crisis.</vt:lpstr>
      <vt:lpstr>Human Cost</vt:lpstr>
      <vt:lpstr>The Solution</vt:lpstr>
      <vt:lpstr>From Question to Confident Action in Seconds.</vt:lpstr>
      <vt:lpstr>Why Now? The Perfect Storm</vt:lpstr>
      <vt:lpstr>A Massive, Underserved, and Growing Market.</vt:lpstr>
      <vt:lpstr>Phased Rollout for Rapid, Sustainable Growth.</vt:lpstr>
      <vt:lpstr>Competitive Landscape: A Unique, Defensible Position.</vt:lpstr>
      <vt:lpstr>Meet our team</vt:lpstr>
      <vt:lpstr>Why This Accelerator? Why Now?​</vt:lpstr>
      <vt:lpstr>Summary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DUOT</dc:creator>
  <cp:lastModifiedBy>K DUOT</cp:lastModifiedBy>
  <cp:revision>19</cp:revision>
  <dcterms:created xsi:type="dcterms:W3CDTF">2025-07-22T09:58:33Z</dcterms:created>
  <dcterms:modified xsi:type="dcterms:W3CDTF">2025-07-23T00:29:21Z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